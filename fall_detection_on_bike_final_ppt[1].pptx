
<file path=[Content_Types].xml><?xml version="1.0" encoding="utf-8"?>
<Types xmlns="http://schemas.openxmlformats.org/package/2006/content-types">
  <Default Extension="fntdata" ContentType="application/x-fontdata"/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4415" r:id="rId1"/>
  </p:sldMasterIdLst>
  <p:notesMasterIdLst>
    <p:notesMasterId r:id="rId17"/>
  </p:notes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7" r:id="rId9"/>
    <p:sldId id="262" r:id="rId10"/>
    <p:sldId id="266" r:id="rId11"/>
    <p:sldId id="269" r:id="rId12"/>
    <p:sldId id="268" r:id="rId13"/>
    <p:sldId id="263" r:id="rId14"/>
    <p:sldId id="264" r:id="rId15"/>
    <p:sldId id="270" r:id="rId16"/>
  </p:sldIdLst>
  <p:sldSz cx="14630400" cy="8229600"/>
  <p:notesSz cx="8229600" cy="14630400"/>
  <p:embeddedFontLst>
    <p:embeddedFont>
      <p:font typeface="Castellar" panose="020A0402060406010301" pitchFamily="18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26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9484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0106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F2CDA-F35E-5390-BB46-A58FD59C7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C62E16-B251-E733-0837-90812D223B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1F484E-B03D-887E-B056-B512FACC2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80553-7ABF-A9DA-6BDB-8D1C28808B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063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8684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C8664-0463-A883-B869-B75ADC4FE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714DD3-A0F3-8F16-F88D-C308093BD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55FA2B-BEBD-63A1-BCE6-3C72CDD5B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BBD46-02E4-4F38-1708-AB5AFB4860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013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8C6EF-082E-B411-8CA1-916103298A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9D9906-CCFA-2B01-65C5-EC35CDECFE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FC059-20ED-A1EA-B836-002B3466D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490D0-CF3E-4458-8742-78D063E3D51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C99E8-98D0-DC35-4F78-9401F92BC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634E6-CB7F-BFAE-0FFA-1C13E72E4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65594-BF34-4337-9E51-4A8A84302B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98976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44F12-30CD-3788-0755-0E04AD198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6D906-7988-FD77-3090-60CE8F7B3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304FC-9063-E657-A210-EC4ECBCD5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490D0-CF3E-4458-8742-78D063E3D51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90692-11B0-56B8-B871-2AC2040AB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04D0A-9825-6705-41FB-CD9BE16AD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65594-BF34-4337-9E51-4A8A84302B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82778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F3BA3-7D82-6463-CE58-8D7085046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15F13-9C4E-D6B7-29E7-409B4D33A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90882-0895-C7B1-208D-4FA2CC128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490D0-CF3E-4458-8742-78D063E3D51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8F5F3-2B5D-9253-8626-B473BA00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DE798-B192-181D-95E2-4CE38B8A0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65594-BF34-4337-9E51-4A8A84302B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60363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8A142-EFCC-EFDE-B7E9-C3FA5EC88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B0A01-79D8-3B8F-AD1A-25FD06E99E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A7AD94-FCE5-1F59-6EEE-5C9048F45A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16D76-9BD4-815D-BFEE-EA443BF16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490D0-CF3E-4458-8742-78D063E3D51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B3E1F-784B-97FF-FBFD-B6D43159C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FEFD3-1ED4-3C55-8F11-49E4C9CBE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65594-BF34-4337-9E51-4A8A84302B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32246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33F47-3162-168C-4C9B-6B980BEBF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F553A-E7ED-9F95-01B8-957C7D8ED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416471-FA8B-48B1-26CB-4FD24F6C25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DF6D1-554E-1DC6-EAB3-D03384648B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E5BE27-0067-DB88-5A0F-27728C5362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F55F01-54B2-7DB7-ADFE-F083DE77B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490D0-CF3E-4458-8742-78D063E3D51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0CC477-2407-A301-6130-F150B4D6B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1FEB03-0BCA-7CD1-077A-058C27EE3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65594-BF34-4337-9E51-4A8A84302B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44129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48618-59A7-C1B8-6A50-3CFB13D70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7E1366-AAA0-B4CA-543D-5F4719095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490D0-CF3E-4458-8742-78D063E3D51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0A410A-776A-496D-E5A4-E2E8CD5FA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E3AE12-FD4A-C607-36E7-2336ACF81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65594-BF34-4337-9E51-4A8A84302B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25430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D2BCC-AED6-587F-DA45-827A96D6A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490D0-CF3E-4458-8742-78D063E3D51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1FF750-0AD3-0315-6E96-50381F8B9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8A149D-4026-6A9E-63DF-E45B4FB9D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65594-BF34-4337-9E51-4A8A84302B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63445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57606-8F08-E695-38F2-47C66C823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0D596-8FD7-71E7-9C55-AFD6B0785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7FDBF2-5486-A184-527C-53EBB8471D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0A1350-3412-AD38-F722-07B632722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490D0-CF3E-4458-8742-78D063E3D51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F1059-C59B-0149-4477-C68A247F2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24D7CA-4E81-609B-700B-381EDE35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65594-BF34-4337-9E51-4A8A84302B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97146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7CE55-B629-63D4-58CA-82C334515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B31C11-500F-89A1-5EB4-4E45F81842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162243-B665-361C-06B6-C0847E84E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54C483-CAB3-9DE7-B93A-4C365319B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490D0-CF3E-4458-8742-78D063E3D51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F3B0BC-4220-CC45-153A-01DE74505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CE09C-F983-5BD4-F5DF-D3EC13085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65594-BF34-4337-9E51-4A8A84302B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22082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5922E-77DE-6B8A-2557-E05F3DECF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0C121F-7D67-B28B-1750-0D4676B1F6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AA17EB-A44A-AE89-BBBA-B380264A6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490D0-CF3E-4458-8742-78D063E3D51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E54C4-DAB8-95DA-E009-C4E559F62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9555F-70B3-FC81-8612-CC4785B67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65594-BF34-4337-9E51-4A8A84302B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70132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B51FF6-7D56-98F6-A138-665646F001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1F724E-C583-6F9B-6FAD-9523FF1CE6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294AE-F2C3-8B9E-B653-21A359330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490D0-CF3E-4458-8742-78D063E3D51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DD8E2-8A4B-2B3D-3670-56E9F7E5B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535D1-E178-2B34-E221-266343CD7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65594-BF34-4337-9E51-4A8A84302B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49648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84738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22974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30928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15984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40960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78948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54202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2141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91896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36416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1037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056319-5301-55E1-6A05-8243D79F5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0ADEA-6607-C261-8660-C8AB9D0D0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C4624-6BA1-6752-0462-D483CCBE73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490D0-CF3E-4458-8742-78D063E3D51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94B46-07E3-B40D-8924-40F935CF71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EAB6B-5554-D329-B879-C0478D6D7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65594-BF34-4337-9E51-4A8A84302B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184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6" r:id="rId1"/>
    <p:sldLayoutId id="2147484417" r:id="rId2"/>
    <p:sldLayoutId id="2147484418" r:id="rId3"/>
    <p:sldLayoutId id="2147484419" r:id="rId4"/>
    <p:sldLayoutId id="2147484420" r:id="rId5"/>
    <p:sldLayoutId id="2147484421" r:id="rId6"/>
    <p:sldLayoutId id="2147484422" r:id="rId7"/>
    <p:sldLayoutId id="2147484423" r:id="rId8"/>
    <p:sldLayoutId id="2147484424" r:id="rId9"/>
    <p:sldLayoutId id="2147484425" r:id="rId10"/>
    <p:sldLayoutId id="2147484426" r:id="rId11"/>
    <p:sldLayoutId id="2147484427" r:id="rId12"/>
    <p:sldLayoutId id="2147484428" r:id="rId13"/>
    <p:sldLayoutId id="2147484429" r:id="rId14"/>
    <p:sldLayoutId id="2147484430" r:id="rId15"/>
    <p:sldLayoutId id="2147484431" r:id="rId16"/>
    <p:sldLayoutId id="2147484432" r:id="rId17"/>
    <p:sldLayoutId id="2147484433" r:id="rId18"/>
    <p:sldLayoutId id="2147484434" r:id="rId19"/>
    <p:sldLayoutId id="2147484435" r:id="rId20"/>
    <p:sldLayoutId id="2147484436" r:id="rId21"/>
    <p:sldLayoutId id="2147484437" r:id="rId22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jpe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3.png"/><Relationship Id="rId7" Type="http://schemas.openxmlformats.org/officeDocument/2006/relationships/image" Target="../media/image1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3" Type="http://schemas.openxmlformats.org/officeDocument/2006/relationships/image" Target="../media/image20.png"/><Relationship Id="rId7" Type="http://schemas.openxmlformats.org/officeDocument/2006/relationships/image" Target="../media/image2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7.jp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1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842214" y="2429561"/>
            <a:ext cx="7704032" cy="2406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An intelligent safety system that automatically detects motorcycle accidents and alerts emergency services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764E0F-C821-AEA0-5B01-55E9B5C2E586}"/>
              </a:ext>
            </a:extLst>
          </p:cNvPr>
          <p:cNvSpPr txBox="1"/>
          <p:nvPr/>
        </p:nvSpPr>
        <p:spPr>
          <a:xfrm>
            <a:off x="794086" y="4835877"/>
            <a:ext cx="6400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LUCKSHANA.G [927624BEC116]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MAHALAKSHMI.R [927624BEC120]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KARTHIKAA.S [927624BEC097]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KAVISHKA.B [927624BEC102]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1CA73A-3B97-FC3C-DB0F-5213C80DE311}"/>
              </a:ext>
            </a:extLst>
          </p:cNvPr>
          <p:cNvSpPr txBox="1"/>
          <p:nvPr/>
        </p:nvSpPr>
        <p:spPr>
          <a:xfrm>
            <a:off x="3056021" y="407814"/>
            <a:ext cx="103110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 DETECTION ON BIKE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023C4D-588E-464E-F58F-E7884841E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0792" y="1520700"/>
            <a:ext cx="4991233" cy="60651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1722" y="139711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Introduction</a:t>
            </a:r>
            <a:endParaRPr lang="en-US" sz="4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75771" y="2643337"/>
            <a:ext cx="760428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Bike Fall Detection is an advanced safety system engineered to detect motorcycle accidents using precision sensors and real-time data processing. The system instantly transmits emergency alerts via </a:t>
            </a:r>
            <a:r>
              <a:rPr lang="en-US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NB – IOT </a:t>
            </a:r>
            <a:r>
              <a:rPr lang="en-US" sz="20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sensor networks, including the bike's exact GPS coordinates to enable rapid emergency response.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75771" y="4806995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This cutting-edge technology significantly enhances rider safety and can be seamlessly integrated into motorcycles or smart helmets, providing continuous protection for riders on every journey.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3698" y="1397110"/>
            <a:ext cx="3808208" cy="53802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104132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Problem Statement</a:t>
            </a:r>
            <a:endParaRPr lang="en-US" sz="4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80190" y="1937742"/>
            <a:ext cx="3558291" cy="3128129"/>
          </a:xfrm>
          <a:prstGeom prst="roundRect">
            <a:avLst>
              <a:gd name="adj" fmla="val 3046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02821" y="2322434"/>
            <a:ext cx="319587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Delayed Medical Response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502821" y="2920294"/>
            <a:ext cx="319587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Many motorcycle accident victims face critical delays in receiving emergency medical care, leading to preventable fatalities and severe injuries.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0072916" y="1937742"/>
            <a:ext cx="3529261" cy="3128129"/>
          </a:xfrm>
          <a:prstGeom prst="roundRect">
            <a:avLst>
              <a:gd name="adj" fmla="val 3046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182" y="2322434"/>
            <a:ext cx="3195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Communication Barriers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406182" y="2933342"/>
            <a:ext cx="319599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Manual emergency calls often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fail when riders are unconscious, disoriented, or unable to reach their mobile devices after an accident.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280190" y="5292685"/>
            <a:ext cx="7321987" cy="1895193"/>
          </a:xfrm>
          <a:prstGeom prst="roundRect">
            <a:avLst>
              <a:gd name="adj" fmla="val 4652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55271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Automation Need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514624" y="6017538"/>
            <a:ext cx="70875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The urgent requirement for an intelligent, automatic fall detection system that operates independently of rider consciousness or intervention.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30F16F-37A6-4C75-A06A-C8AC01AC8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222" y="1041722"/>
            <a:ext cx="5017533" cy="61461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388962" y="936316"/>
            <a:ext cx="12118694" cy="1119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Smart Motorcycle Fall Detection System: Saving Lives Through Intelligent Emergency Response</a:t>
            </a:r>
            <a:endParaRPr lang="en-US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388962" y="2236515"/>
            <a:ext cx="11528385" cy="115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An advanced IoT-based safety system that automatically detects motorcycle accidents using multi-sensor technology and instantly alerts emergency services with precise GPS coordinates. This life-saving innovation addresses the critical gap in emergency response time for motorcycle accidents, where every second counts.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8670" y="4004429"/>
            <a:ext cx="3605808" cy="450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1059061" y="4725591"/>
            <a:ext cx="7296269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1059061" y="5374481"/>
            <a:ext cx="7296269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5"/>
          <p:cNvSpPr/>
          <p:nvPr/>
        </p:nvSpPr>
        <p:spPr>
          <a:xfrm>
            <a:off x="353006" y="2940963"/>
            <a:ext cx="7296269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6"/>
          <p:cNvSpPr/>
          <p:nvPr/>
        </p:nvSpPr>
        <p:spPr>
          <a:xfrm>
            <a:off x="1059061" y="6672263"/>
            <a:ext cx="7296269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" y="7420273"/>
            <a:ext cx="90130" cy="9013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059061" y="7321153"/>
            <a:ext cx="7296269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7FFA802-ADFA-4C87-B13A-DB6526A48F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8960" y="3410174"/>
            <a:ext cx="3368235" cy="378977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36CC2FB-81E3-4E21-B207-4C9D84A98F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7374" y="3410174"/>
            <a:ext cx="3368235" cy="3614570"/>
          </a:xfrm>
          <a:prstGeom prst="rect">
            <a:avLst/>
          </a:prstGeom>
        </p:spPr>
      </p:pic>
      <p:pic>
        <p:nvPicPr>
          <p:cNvPr id="1026" name="Picture 2" descr="1.72 Lakh Lives Lost on Indian Roads! | MORTH Report on Road ...">
            <a:extLst>
              <a:ext uri="{FF2B5EF4-FFF2-40B4-BE49-F238E27FC236}">
                <a16:creationId xmlns:a16="http://schemas.microsoft.com/office/drawing/2014/main" id="{0280EAB1-3C8A-4139-809A-9CCB3BDB2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167" y="3410174"/>
            <a:ext cx="3368235" cy="3614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73944" y="11011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Proposed Solution</a:t>
            </a:r>
            <a:endParaRPr lang="en-US" sz="4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960537" y="212818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Instrument Sans Light" pitchFamily="34" charset="-122"/>
                <a:cs typeface="Times New Roman" panose="02020603050405020304" pitchFamily="18" charset="0"/>
              </a:rPr>
              <a:t>01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239447"/>
            <a:ext cx="3664744" cy="30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0537" y="2573868"/>
            <a:ext cx="32718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Multi-Sensor Integration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960537" y="3147207"/>
            <a:ext cx="366474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Advanced accelerometer and gyroscope sensors continuously monitor bike orientation, velocity, and impact forces with high precision.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938117" y="215092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Instrument Sans Light" pitchFamily="34" charset="-122"/>
                <a:cs typeface="Times New Roman" panose="02020603050405020304" pitchFamily="18" charset="0"/>
              </a:rPr>
              <a:t>02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348" y="2262188"/>
            <a:ext cx="3664863" cy="30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38117" y="2570888"/>
            <a:ext cx="35254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Real-Time Motion Analysis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4938117" y="3120973"/>
            <a:ext cx="366486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Sophisticated algorithms process motion data in real-time to distinguish between normal riding patterns and actual fall scenarios.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960537" y="503898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Instrument Sans Light" pitchFamily="34" charset="-122"/>
                <a:cs typeface="Times New Roman" panose="02020603050405020304" pitchFamily="18" charset="0"/>
              </a:rPr>
              <a:t>03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447943"/>
            <a:ext cx="7556421" cy="30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537" y="55516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Instant Alert System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963811" y="6026229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Upon confirmed fall detection, the system automatically sends SMS alerts with GPS coordinates to pre-configured emergency contacts and services.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4E58E03-BCB6-4952-846A-0729E85A85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6906" y="1081324"/>
            <a:ext cx="5000197" cy="60336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7424" y="1040843"/>
            <a:ext cx="7734419" cy="692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Existing vs Proposed Solution</a:t>
            </a:r>
            <a:endParaRPr lang="en-US" sz="4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07424" y="1982866"/>
            <a:ext cx="3325416" cy="415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Existing Product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24" y="2523172"/>
            <a:ext cx="5570101" cy="33531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7424" y="6116712"/>
            <a:ext cx="6268879" cy="70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Basic detection systems with limited accuracy and manual intervention requirements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593211" y="1858208"/>
            <a:ext cx="3325416" cy="415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Proposed Solution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3211" y="2523172"/>
            <a:ext cx="5902643" cy="335315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85591" y="6168038"/>
            <a:ext cx="6268879" cy="70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Intelligent, fully-automated system with enhanced precision and immediate emergency response capabilities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473798" y="1055699"/>
            <a:ext cx="4148103" cy="474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</p:txBody>
      </p:sp>
      <p:sp>
        <p:nvSpPr>
          <p:cNvPr id="4" name="Shape 1"/>
          <p:cNvSpPr/>
          <p:nvPr/>
        </p:nvSpPr>
        <p:spPr>
          <a:xfrm>
            <a:off x="6418480" y="4270902"/>
            <a:ext cx="3414172" cy="2607580"/>
          </a:xfrm>
          <a:prstGeom prst="roundRect">
            <a:avLst>
              <a:gd name="adj" fmla="val 1850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2"/>
          <p:cNvSpPr/>
          <p:nvPr/>
        </p:nvSpPr>
        <p:spPr>
          <a:xfrm>
            <a:off x="6547724" y="4353474"/>
            <a:ext cx="1898809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NB-IoT </a:t>
            </a:r>
            <a:r>
              <a:rPr lang="en-US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Module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3"/>
          <p:cNvSpPr/>
          <p:nvPr/>
        </p:nvSpPr>
        <p:spPr>
          <a:xfrm>
            <a:off x="6547724" y="4811995"/>
            <a:ext cx="3151861" cy="486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Enables reliable cellular connectivity for emergency communications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4"/>
          <p:cNvSpPr/>
          <p:nvPr/>
        </p:nvSpPr>
        <p:spPr>
          <a:xfrm>
            <a:off x="10134244" y="1203276"/>
            <a:ext cx="3254748" cy="2607581"/>
          </a:xfrm>
          <a:prstGeom prst="roundRect">
            <a:avLst>
              <a:gd name="adj" fmla="val 1850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3" name="Text 5"/>
          <p:cNvSpPr/>
          <p:nvPr/>
        </p:nvSpPr>
        <p:spPr>
          <a:xfrm>
            <a:off x="10293668" y="1314774"/>
            <a:ext cx="1898809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GPS Module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6"/>
          <p:cNvSpPr/>
          <p:nvPr/>
        </p:nvSpPr>
        <p:spPr>
          <a:xfrm>
            <a:off x="10293668" y="1803381"/>
            <a:ext cx="3254748" cy="486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Provides precise location tracking for emergency response coordination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7"/>
          <p:cNvSpPr/>
          <p:nvPr/>
        </p:nvSpPr>
        <p:spPr>
          <a:xfrm>
            <a:off x="6418480" y="1220489"/>
            <a:ext cx="3414172" cy="2607580"/>
          </a:xfrm>
          <a:prstGeom prst="roundRect">
            <a:avLst>
              <a:gd name="adj" fmla="val 2126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Nano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main microcontroller for reading sensors and controlling outputs</a:t>
            </a:r>
          </a:p>
          <a:p>
            <a:endParaRPr lang="en-IN" sz="1600" dirty="0"/>
          </a:p>
        </p:txBody>
      </p:sp>
      <p:sp>
        <p:nvSpPr>
          <p:cNvPr id="19" name="Text 8"/>
          <p:cNvSpPr/>
          <p:nvPr/>
        </p:nvSpPr>
        <p:spPr>
          <a:xfrm>
            <a:off x="2203826" y="2585073"/>
            <a:ext cx="2282071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sz="1450" dirty="0"/>
          </a:p>
        </p:txBody>
      </p:sp>
      <p:sp>
        <p:nvSpPr>
          <p:cNvPr id="20" name="Text 9"/>
          <p:cNvSpPr/>
          <p:nvPr/>
        </p:nvSpPr>
        <p:spPr>
          <a:xfrm>
            <a:off x="1620857" y="3035978"/>
            <a:ext cx="4926867" cy="243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150" dirty="0"/>
          </a:p>
        </p:txBody>
      </p:sp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935" y="2408355"/>
            <a:ext cx="2253443" cy="120296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88DA99A-1B3F-4D8A-85DC-92EDC06211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0590" y="2461202"/>
            <a:ext cx="2191638" cy="117784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8A202EB-CD83-4227-ADE6-F62CB7E230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6932" y="5519237"/>
            <a:ext cx="2253443" cy="1155113"/>
          </a:xfrm>
          <a:prstGeom prst="rect">
            <a:avLst/>
          </a:prstGeom>
        </p:spPr>
      </p:pic>
      <p:sp>
        <p:nvSpPr>
          <p:cNvPr id="27" name="Shape 7">
            <a:extLst>
              <a:ext uri="{FF2B5EF4-FFF2-40B4-BE49-F238E27FC236}">
                <a16:creationId xmlns:a16="http://schemas.microsoft.com/office/drawing/2014/main" id="{46F5D4BD-E730-4BB6-B1AA-5388A0AF9032}"/>
              </a:ext>
            </a:extLst>
          </p:cNvPr>
          <p:cNvSpPr/>
          <p:nvPr/>
        </p:nvSpPr>
        <p:spPr>
          <a:xfrm>
            <a:off x="10134244" y="4270902"/>
            <a:ext cx="3254748" cy="2607580"/>
          </a:xfrm>
          <a:prstGeom prst="roundRect">
            <a:avLst>
              <a:gd name="adj" fmla="val 2126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pPr>
              <a:lnSpc>
                <a:spcPts val="1850"/>
              </a:lnSpc>
            </a:pPr>
            <a:r>
              <a:rPr lang="en-US" sz="16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ADXL-324 Accelerometer</a:t>
            </a:r>
          </a:p>
          <a:p>
            <a:pPr>
              <a:lnSpc>
                <a:spcPts val="185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850"/>
              </a:lnSpc>
            </a:pPr>
            <a:r>
              <a:rPr lang="en-US" sz="16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High-sensitivity 3-axis motion    detection for accurate fall identification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85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850"/>
              </a:lnSpc>
            </a:pPr>
            <a:endParaRPr lang="en-US" sz="1600" dirty="0">
              <a:latin typeface="Times New Roman" panose="02020603050405020304" pitchFamily="18" charset="0"/>
              <a:ea typeface="Instrument Sans Semi Bold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D9895CF-FEBA-4C54-B376-C4746F3781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968" y="5660020"/>
            <a:ext cx="2257023" cy="106978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8C1CFB1-19EA-4EAA-9856-7B12147C6A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033" y="1764546"/>
            <a:ext cx="4784342" cy="2352957"/>
          </a:xfrm>
          <a:prstGeom prst="rect">
            <a:avLst/>
          </a:prstGeom>
        </p:spPr>
      </p:pic>
      <p:sp>
        <p:nvSpPr>
          <p:cNvPr id="32" name="Shape 1">
            <a:extLst>
              <a:ext uri="{FF2B5EF4-FFF2-40B4-BE49-F238E27FC236}">
                <a16:creationId xmlns:a16="http://schemas.microsoft.com/office/drawing/2014/main" id="{958D1A20-2B07-4E56-9ECB-C56B214717B9}"/>
              </a:ext>
            </a:extLst>
          </p:cNvPr>
          <p:cNvSpPr/>
          <p:nvPr/>
        </p:nvSpPr>
        <p:spPr>
          <a:xfrm>
            <a:off x="1598240" y="4472120"/>
            <a:ext cx="3263127" cy="2607580"/>
          </a:xfrm>
          <a:prstGeom prst="roundRect">
            <a:avLst>
              <a:gd name="adj" fmla="val 1850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LM2596 Step Down Convertor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safety reduce a higher DC voltage to a lower, stable voltage for powering electronic components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CCDDAE8-06EF-41F9-AEB1-B3CEEAAC81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12516" y="5909546"/>
            <a:ext cx="1834573" cy="10445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80FAD09B-C683-46F2-ABA9-071CC3E07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319" y="1145894"/>
            <a:ext cx="12026095" cy="579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269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29590" y="676513"/>
            <a:ext cx="4870608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Working Mechanism</a:t>
            </a:r>
            <a:endParaRPr lang="en-US" sz="3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589" y="1413986"/>
            <a:ext cx="963930" cy="141910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77350" y="1491020"/>
            <a:ext cx="262568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Continuous Monitoring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7377350" y="1921132"/>
            <a:ext cx="6399728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Multi-axis sensors continuously track bike movement patterns, acceleration, and angular velocity during operation.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589" y="2839821"/>
            <a:ext cx="963930" cy="172747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77350" y="2957441"/>
            <a:ext cx="2773561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Fall Detection Algorithm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7414169" y="3394580"/>
            <a:ext cx="6399728" cy="92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Advanced algorithms analyze sensor data against predefined thresholds to identify sudden impacts, abnormal tilting, or crash scenarios.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589" y="4614803"/>
            <a:ext cx="963930" cy="141910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77350" y="4671412"/>
            <a:ext cx="280773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Location Capture &amp; Alert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7377350" y="5093581"/>
            <a:ext cx="6399728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Upon confirmed fall detection, the system captures GPS coordinates and immediately transmits emergency alerts with location data.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9589" y="6033909"/>
            <a:ext cx="963930" cy="141910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414169" y="6152595"/>
            <a:ext cx="245947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Emergency Response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7414169" y="6587721"/>
            <a:ext cx="6399728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Pre-configured emergency contacts and services receive instant SMS notifications enabling rapid medical response deployment.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DAE31AF-30FB-4570-A602-A285D7561C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322" y="1234607"/>
            <a:ext cx="5010389" cy="288019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DD9DEEA-97CC-4C26-B9C9-9C274DFD1A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322" y="4567299"/>
            <a:ext cx="5010389" cy="26573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592563" y="929757"/>
            <a:ext cx="5509260" cy="38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Technical Approach &amp; Implementation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142553" y="1226915"/>
            <a:ext cx="1989772" cy="202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142553" y="1551146"/>
            <a:ext cx="3767257" cy="195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142553" y="1788795"/>
            <a:ext cx="3767257" cy="195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142553" y="2026444"/>
            <a:ext cx="3767257" cy="195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142553" y="2264093"/>
            <a:ext cx="3767257" cy="195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142553" y="2501741"/>
            <a:ext cx="3767257" cy="195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142553" y="2739390"/>
            <a:ext cx="3767257" cy="195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059299" y="1491853"/>
            <a:ext cx="1827967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System Integration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003637" y="1859457"/>
            <a:ext cx="3767257" cy="195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6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Compact design for easy motorcycle installation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003635" y="2113294"/>
            <a:ext cx="3767257" cy="195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6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Weather-resistant housing for all-weather operation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003869" y="2361470"/>
            <a:ext cx="3767257" cy="220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6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Wireless connectivity for remote monitoring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003634" y="2612010"/>
            <a:ext cx="3767257" cy="195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6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Mobile app for system configuration and monitoring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052572" y="3181740"/>
            <a:ext cx="2156817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Implementation Strategy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399818" y="3490773"/>
            <a:ext cx="487442" cy="465317"/>
          </a:xfrm>
          <a:prstGeom prst="roundRect">
            <a:avLst>
              <a:gd name="adj" fmla="val 360016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78998" y="3657601"/>
            <a:ext cx="208344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102139" y="3565440"/>
            <a:ext cx="1523286" cy="190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Sensor Fusion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102139" y="3759787"/>
            <a:ext cx="7222450" cy="195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Combine accelerometer and gyroscope data for accurate fall detection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102139" y="4197785"/>
            <a:ext cx="1554123" cy="190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Threshold Calibration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124310" y="4437907"/>
            <a:ext cx="7222450" cy="195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Set optimal sensitivity levels to minimize false alarms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102139" y="4912177"/>
            <a:ext cx="1523286" cy="190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Emergency Protocol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102139" y="5151720"/>
            <a:ext cx="7222450" cy="195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Automated SMS alerts with GPS coordinates to emergency contacts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6102139" y="5730779"/>
            <a:ext cx="1523286" cy="190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Power Management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102139" y="5976012"/>
            <a:ext cx="7222450" cy="195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Low-power sleep modes to extend battery life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6124310" y="6548031"/>
            <a:ext cx="1535668" cy="190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Real-time Processing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6102139" y="6750603"/>
            <a:ext cx="7222450" cy="195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Edge computing for instant decision making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B5C50D79-AA0F-4E27-A33D-6451359A9F73}"/>
              </a:ext>
            </a:extLst>
          </p:cNvPr>
          <p:cNvSpPr/>
          <p:nvPr/>
        </p:nvSpPr>
        <p:spPr>
          <a:xfrm>
            <a:off x="5399818" y="4167614"/>
            <a:ext cx="487442" cy="465317"/>
          </a:xfrm>
          <a:prstGeom prst="roundRect">
            <a:avLst>
              <a:gd name="adj" fmla="val 360016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r>
              <a:rPr lang="en-IN" sz="1400" dirty="0"/>
              <a:t>2</a:t>
            </a:r>
          </a:p>
        </p:txBody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D9DAAEF2-10F8-4329-8A3B-0D2D1985AFF3}"/>
              </a:ext>
            </a:extLst>
          </p:cNvPr>
          <p:cNvSpPr/>
          <p:nvPr/>
        </p:nvSpPr>
        <p:spPr>
          <a:xfrm>
            <a:off x="5399818" y="4967034"/>
            <a:ext cx="487442" cy="465317"/>
          </a:xfrm>
          <a:prstGeom prst="roundRect">
            <a:avLst>
              <a:gd name="adj" fmla="val 360016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r>
              <a:rPr lang="en-IN" sz="1600" dirty="0"/>
              <a:t>3</a:t>
            </a:r>
          </a:p>
        </p:txBody>
      </p:sp>
      <p:sp>
        <p:nvSpPr>
          <p:cNvPr id="40" name="Shape 14">
            <a:extLst>
              <a:ext uri="{FF2B5EF4-FFF2-40B4-BE49-F238E27FC236}">
                <a16:creationId xmlns:a16="http://schemas.microsoft.com/office/drawing/2014/main" id="{E2D6F32C-E5ED-4EDA-97CF-5E61CA988953}"/>
              </a:ext>
            </a:extLst>
          </p:cNvPr>
          <p:cNvSpPr/>
          <p:nvPr/>
        </p:nvSpPr>
        <p:spPr>
          <a:xfrm>
            <a:off x="5396157" y="5766454"/>
            <a:ext cx="487442" cy="465317"/>
          </a:xfrm>
          <a:prstGeom prst="roundRect">
            <a:avLst>
              <a:gd name="adj" fmla="val 360016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r>
              <a:rPr lang="en-IN" sz="1600" dirty="0"/>
              <a:t>4</a:t>
            </a:r>
          </a:p>
        </p:txBody>
      </p:sp>
      <p:sp>
        <p:nvSpPr>
          <p:cNvPr id="41" name="Shape 14">
            <a:extLst>
              <a:ext uri="{FF2B5EF4-FFF2-40B4-BE49-F238E27FC236}">
                <a16:creationId xmlns:a16="http://schemas.microsoft.com/office/drawing/2014/main" id="{3688135E-FF8B-4E81-A2F6-EA28F7DCBE42}"/>
              </a:ext>
            </a:extLst>
          </p:cNvPr>
          <p:cNvSpPr/>
          <p:nvPr/>
        </p:nvSpPr>
        <p:spPr>
          <a:xfrm>
            <a:off x="5376669" y="6556058"/>
            <a:ext cx="487442" cy="465317"/>
          </a:xfrm>
          <a:prstGeom prst="roundRect">
            <a:avLst>
              <a:gd name="adj" fmla="val 360016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r>
              <a:rPr lang="en-IN" sz="1600" dirty="0"/>
              <a:t>5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400A997-5191-41A5-B281-671585CF4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783" y="4146739"/>
            <a:ext cx="4076832" cy="271788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FCD9075-9C5F-4B1E-AB5D-CF895ECAD7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991" y="1425388"/>
            <a:ext cx="4076832" cy="2689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5B1DD-81A3-C1ED-2101-917B47AE6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>
                <a:extLst>
                  <a:ext uri="{FF2B5EF4-FFF2-40B4-BE49-F238E27FC236}">
                    <a16:creationId xmlns:a16="http://schemas.microsoft.com/office/drawing/2014/main" id="{76AB60A7-F3B6-DD16-A338-7809263624C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8889095"/>
                  </p:ext>
                </p:extLst>
              </p:nvPr>
            </p:nvGraphicFramePr>
            <p:xfrm>
              <a:off x="4930911" y="2228412"/>
              <a:ext cx="3370082" cy="4740962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370082" cy="4740962"/>
                    </a:xfrm>
                    <a:prstGeom prst="rect">
                      <a:avLst/>
                    </a:prstGeom>
                    <a:noFill/>
                  </am3d:spPr>
                  <am3d:camera>
                    <am3d:pos x="0" y="0" z="6300366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2857" d="1000000"/>
                    <am3d:preTrans dx="237742" dy="-18000000" dz="2449679"/>
                    <am3d:scale>
                      <am3d:sx n="1000000" d="1000000"/>
                      <am3d:sy n="1000000" d="1000000"/>
                      <am3d:sz n="1000000" d="1000000"/>
                    </am3d:scale>
                    <am3d:rot ax="-28967" ay="3" az="1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641648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>
                <a:extLst>
                  <a:ext uri="{FF2B5EF4-FFF2-40B4-BE49-F238E27FC236}">
                    <a16:creationId xmlns:a16="http://schemas.microsoft.com/office/drawing/2014/main" id="{76AB60A7-F3B6-DD16-A338-7809263624C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30911" y="2228412"/>
                <a:ext cx="3370082" cy="4740962"/>
              </a:xfrm>
              <a:prstGeom prst="rect">
                <a:avLst/>
              </a:prstGeom>
              <a:noFill/>
            </p:spPr>
          </p:pic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9EF5A562-100E-25E4-B361-C678EB328821}"/>
              </a:ext>
            </a:extLst>
          </p:cNvPr>
          <p:cNvSpPr txBox="1"/>
          <p:nvPr/>
        </p:nvSpPr>
        <p:spPr>
          <a:xfrm>
            <a:off x="2571078" y="1108037"/>
            <a:ext cx="110696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MODEL FOR FALL DETECTION SENSOR</a:t>
            </a:r>
          </a:p>
        </p:txBody>
      </p:sp>
    </p:spTree>
    <p:extLst>
      <p:ext uri="{BB962C8B-B14F-4D97-AF65-F5344CB8AC3E}">
        <p14:creationId xmlns:p14="http://schemas.microsoft.com/office/powerpoint/2010/main" val="2894603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A5EF301C-4987-4A45-9109-1749E4169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418" y="957431"/>
            <a:ext cx="6884894" cy="627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192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10627" y="821021"/>
            <a:ext cx="73178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Challenges &amp; Future Development</a:t>
            </a:r>
            <a:endParaRPr lang="en-US" sz="35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151721" y="1830348"/>
            <a:ext cx="3556873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Current Challenges</a:t>
            </a:r>
            <a:endParaRPr lang="en-US" sz="2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1051951" y="2499717"/>
            <a:ext cx="3556873" cy="2034659"/>
          </a:xfrm>
          <a:prstGeom prst="roundRect">
            <a:avLst>
              <a:gd name="adj" fmla="val 539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510" y="2499717"/>
            <a:ext cx="91440" cy="20346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1844" y="2704028"/>
            <a:ext cx="258913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False Positive Reduction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230223" y="3168967"/>
            <a:ext cx="3079671" cy="1161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Minimizing false fall detection triggered by aggressive riding, sudden braking, or rough terrain navigation.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1060950" y="4783694"/>
            <a:ext cx="3556873" cy="2016441"/>
          </a:xfrm>
          <a:prstGeom prst="roundRect">
            <a:avLst>
              <a:gd name="adj" fmla="val 539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037" y="4774584"/>
            <a:ext cx="91440" cy="203465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7099" y="4920139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Power Optimization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237099" y="5385078"/>
            <a:ext cx="3079671" cy="1161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Managing sensor battery consumption to ensure extended operational periods without frequent recharging requirements.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918607" y="2250400"/>
            <a:ext cx="355687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Future Enhancements</a:t>
            </a:r>
            <a:endParaRPr lang="en-US" sz="2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4800957" y="2953345"/>
            <a:ext cx="3556873" cy="2034659"/>
          </a:xfrm>
          <a:prstGeom prst="roundRect">
            <a:avLst>
              <a:gd name="adj" fmla="val 539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8097" y="2953345"/>
            <a:ext cx="91440" cy="203465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073848" y="3157657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Enhanced Precision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5073848" y="3622596"/>
            <a:ext cx="3079671" cy="1161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Implementing machine learning algorithms to improve detection accuracy and reduce false alarms through pattern recognition.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2"/>
          <p:cNvSpPr/>
          <p:nvPr/>
        </p:nvSpPr>
        <p:spPr>
          <a:xfrm>
            <a:off x="4800957" y="5169456"/>
            <a:ext cx="3556873" cy="2034659"/>
          </a:xfrm>
          <a:prstGeom prst="roundRect">
            <a:avLst>
              <a:gd name="adj" fmla="val 539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8097" y="5169456"/>
            <a:ext cx="91440" cy="203465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073848" y="5373767"/>
            <a:ext cx="244768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Emergency Integration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4"/>
          <p:cNvSpPr/>
          <p:nvPr/>
        </p:nvSpPr>
        <p:spPr>
          <a:xfrm>
            <a:off x="5073848" y="5838706"/>
            <a:ext cx="3079671" cy="1161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Direct integration with emergency dispatch systems and medical response networks for automated incident reporting.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CDB39AC-5956-4FB6-B9CC-82C5516D5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264" y="1104900"/>
            <a:ext cx="4960292" cy="59609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52285" y="80290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References</a:t>
            </a:r>
            <a:endParaRPr lang="en-US" sz="4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8C478-B389-4B8B-A51D-2D4920A43018}"/>
              </a:ext>
            </a:extLst>
          </p:cNvPr>
          <p:cNvSpPr/>
          <p:nvPr/>
        </p:nvSpPr>
        <p:spPr>
          <a:xfrm>
            <a:off x="742277" y="1827077"/>
            <a:ext cx="6411558" cy="10917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 link 1 : </a:t>
            </a:r>
            <a:r>
              <a:rPr lang="en-IN" dirty="0">
                <a:solidFill>
                  <a:srgbClr val="00B0F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https://pmc.ncbi.nlm.nih.gov/articles/PMC4346101/?utm_source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68446D-6076-969E-0B2F-18E66A011261}"/>
              </a:ext>
            </a:extLst>
          </p:cNvPr>
          <p:cNvSpPr/>
          <p:nvPr/>
        </p:nvSpPr>
        <p:spPr>
          <a:xfrm>
            <a:off x="3760126" y="3568917"/>
            <a:ext cx="6325498" cy="10917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 link 2 : </a:t>
            </a:r>
            <a:r>
              <a:rPr lang="en-IN" dirty="0">
                <a:solidFill>
                  <a:srgbClr val="00B0F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https://jneuroengrehab.biomedcentral.com/articles/10.1186/s12984-021-00918-z?utm_source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5C7B08-233F-4C1A-FBD1-4D6300B18681}"/>
              </a:ext>
            </a:extLst>
          </p:cNvPr>
          <p:cNvSpPr/>
          <p:nvPr/>
        </p:nvSpPr>
        <p:spPr>
          <a:xfrm>
            <a:off x="6766560" y="5362210"/>
            <a:ext cx="6960198" cy="125319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for simulation output :</a:t>
            </a:r>
          </a:p>
          <a:p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rgbClr val="00B0F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https://lovable.dev/projects/50e5c56d-0df4-4923-93e8-3685607a13d1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1509C-C57F-7CF2-EA2A-7783161ED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C18D47-A8A1-15E5-6A6B-4B3BF13D9E04}"/>
              </a:ext>
            </a:extLst>
          </p:cNvPr>
          <p:cNvSpPr txBox="1"/>
          <p:nvPr/>
        </p:nvSpPr>
        <p:spPr>
          <a:xfrm>
            <a:off x="3108960" y="3453080"/>
            <a:ext cx="109082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dirty="0">
                <a:latin typeface="Castellar" panose="020A0402060406010301" pitchFamily="18" charset="0"/>
              </a:rPr>
              <a:t>THANKYOU!!!</a:t>
            </a:r>
          </a:p>
        </p:txBody>
      </p:sp>
    </p:spTree>
    <p:extLst>
      <p:ext uri="{BB962C8B-B14F-4D97-AF65-F5344CB8AC3E}">
        <p14:creationId xmlns:p14="http://schemas.microsoft.com/office/powerpoint/2010/main" val="27872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406</TotalTime>
  <Words>741</Words>
  <Application>Microsoft Office PowerPoint</Application>
  <PresentationFormat>Custom</PresentationFormat>
  <Paragraphs>113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</vt:lpstr>
      <vt:lpstr>Castellar</vt:lpstr>
      <vt:lpstr>Calibri Light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Kavishka Balachandran</dc:creator>
  <cp:lastModifiedBy>lukshgopal5@gmail.com</cp:lastModifiedBy>
  <cp:revision>27</cp:revision>
  <dcterms:created xsi:type="dcterms:W3CDTF">2025-09-25T16:11:11Z</dcterms:created>
  <dcterms:modified xsi:type="dcterms:W3CDTF">2025-11-04T05:40:22Z</dcterms:modified>
</cp:coreProperties>
</file>